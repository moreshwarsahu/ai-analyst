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1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21" Type="http://schemas.openxmlformats.org/officeDocument/2006/relationships/image" Target="../media/image4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1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53.png"/><Relationship Id="rId21" Type="http://schemas.openxmlformats.org/officeDocument/2006/relationships/image" Target="../media/image7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1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image" Target="../media/image90.png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18" Type="http://schemas.openxmlformats.org/officeDocument/2006/relationships/image" Target="../media/image121.png"/><Relationship Id="rId3" Type="http://schemas.openxmlformats.org/officeDocument/2006/relationships/image" Target="../media/image106.png"/><Relationship Id="rId21" Type="http://schemas.openxmlformats.org/officeDocument/2006/relationships/image" Target="../media/image124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17" Type="http://schemas.openxmlformats.org/officeDocument/2006/relationships/image" Target="../media/image120.png"/><Relationship Id="rId2" Type="http://schemas.openxmlformats.org/officeDocument/2006/relationships/image" Target="../media/image1.png"/><Relationship Id="rId16" Type="http://schemas.openxmlformats.org/officeDocument/2006/relationships/image" Target="../media/image119.png"/><Relationship Id="rId20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24" Type="http://schemas.openxmlformats.org/officeDocument/2006/relationships/image" Target="../media/image127.png"/><Relationship Id="rId5" Type="http://schemas.openxmlformats.org/officeDocument/2006/relationships/image" Target="../media/image108.png"/><Relationship Id="rId15" Type="http://schemas.openxmlformats.org/officeDocument/2006/relationships/image" Target="../media/image118.png"/><Relationship Id="rId23" Type="http://schemas.openxmlformats.org/officeDocument/2006/relationships/image" Target="../media/image126.png"/><Relationship Id="rId10" Type="http://schemas.openxmlformats.org/officeDocument/2006/relationships/image" Target="../media/image113.png"/><Relationship Id="rId19" Type="http://schemas.openxmlformats.org/officeDocument/2006/relationships/image" Target="../media/image122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Relationship Id="rId22" Type="http://schemas.openxmlformats.org/officeDocument/2006/relationships/image" Target="../media/image1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300" y="1143000"/>
            <a:ext cx="426720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839366"/>
            <a:ext cx="24003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75683"/>
            <a:ext cx="3010686" cy="733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363241"/>
            <a:ext cx="6720840" cy="11313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sz="4050" b="0" i="0" u="none">
                <a:solidFill>
                  <a:srgbClr val="FFFFFF"/>
                </a:solidFill>
                <a:latin typeface="Plus Jakarta Sans ExtraBold"/>
              </a:rPr>
              <a:t>IBM Watson</a:t>
            </a:r>
            <a:r>
              <a:t>
</a:t>
            </a:r>
            <a:r>
              <a:rPr sz="4050" b="0" i="0" u="none">
                <a:solidFill>
                  <a:srgbClr val="C1C7CD"/>
                </a:solidFill>
                <a:latin typeface="Plus Jakarta Sans ExtraBold"/>
              </a:rPr>
              <a:t>Speech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627983"/>
            <a:ext cx="64008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A2A9B0"/>
                </a:solidFill>
                <a:latin typeface="Plus Jakarta Sans"/>
              </a:rPr>
              <a:t>Text-to-Speech &amp; Speech-to-Text Architecture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8948" y="1152525"/>
            <a:ext cx="6002027" cy="45529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1934616"/>
            <a:ext cx="17145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525" y="4437608"/>
            <a:ext cx="1898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78A9FF"/>
                </a:solidFill>
                <a:latin typeface="Plus Jakarta Sans SemiBold"/>
              </a:rPr>
              <a:t>Presenter</a:t>
            </a:r>
            <a:r>
              <a:rPr sz="1200" b="0" i="0" u="none" dirty="0">
                <a:solidFill>
                  <a:srgbClr val="F4F7FB"/>
                </a:solidFill>
                <a:latin typeface="Plus Jakarta Sans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Plus Jakarta Sans SemiBold"/>
              </a:rPr>
              <a:t>Moreshwar Sahu</a:t>
            </a:r>
          </a:p>
          <a:p>
            <a:pPr algn="l"/>
            <a:r>
              <a:rPr lang="en-US" sz="1200" b="0" i="0" u="none" dirty="0">
                <a:solidFill>
                  <a:srgbClr val="FFFFFF"/>
                </a:solidFill>
                <a:latin typeface="Plus Jakarta Sans SemiBold"/>
              </a:rPr>
              <a:t>                   Chandan Lenka</a:t>
            </a:r>
            <a:endParaRPr sz="1200" b="0" i="0" u="none" dirty="0">
              <a:solidFill>
                <a:srgbClr val="FFFFFF"/>
              </a:solidFill>
              <a:latin typeface="Plus Jakarta Sans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93925" y="4437608"/>
            <a:ext cx="1898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dirty="0">
                <a:solidFill>
                  <a:srgbClr val="78A9FF"/>
                </a:solidFill>
                <a:latin typeface="Plus Jakarta Sans SemiBold"/>
              </a:rPr>
              <a:t>(12525930)</a:t>
            </a:r>
            <a:endParaRPr sz="1200" b="0" i="0" u="none" dirty="0">
              <a:solidFill>
                <a:srgbClr val="FFFFFF"/>
              </a:solidFill>
              <a:latin typeface="Plus Jakarta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64221"/>
            <a:ext cx="11049000" cy="204355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36380"/>
            <a:ext cx="5429250" cy="1495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4136380"/>
            <a:ext cx="5429250" cy="1495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407146"/>
            <a:ext cx="3206799" cy="128155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2674" y="2407146"/>
            <a:ext cx="3206799" cy="128155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8574" y="2407146"/>
            <a:ext cx="3206799" cy="128155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547687"/>
            <a:ext cx="261937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9300" y="540543"/>
            <a:ext cx="1981200" cy="2809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6775" y="2083296"/>
            <a:ext cx="10458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78A9FF"/>
                </a:solidFill>
                <a:latin typeface="Plus Jakarta Sans"/>
              </a:rPr>
              <a:t>HUMAN-TO-MACHINE SPEECH PROCESSING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4374505"/>
            <a:ext cx="46863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1. Speech-to-Text (STT)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707880"/>
            <a:ext cx="49244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78A9FF"/>
                </a:solidFill>
                <a:latin typeface="Plus Jakarta Sans SemiBold"/>
              </a:rPr>
              <a:t>Voice Recognition Engine:</a:t>
            </a:r>
            <a:r>
              <a:rPr sz="1200" b="0" i="0" u="none">
                <a:solidFill>
                  <a:srgbClr val="C1C7CD"/>
                </a:solidFill>
                <a:latin typeface="Plus Jakarta Sans"/>
              </a:rPr>
              <a:t> Converts spoken audio streams into accurate machine-readable text using deep learning acoustic algorithms.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1325" y="4374505"/>
            <a:ext cx="45910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2. Text-to-Speech (TTS)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7950" y="4707880"/>
            <a:ext cx="49244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2BE65"/>
                </a:solidFill>
                <a:latin typeface="Plus Jakarta Sans SemiBold"/>
              </a:rPr>
              <a:t>Neural Voice Synthesis:</a:t>
            </a:r>
            <a:r>
              <a:rPr sz="1200" b="0" i="0" u="none">
                <a:solidFill>
                  <a:srgbClr val="C1C7CD"/>
                </a:solidFill>
                <a:latin typeface="Plus Jakarta Sans"/>
              </a:rPr>
              <a:t> Converts written digital text into fluid, natural-sounding synthetic human voices across multiple dialects.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628" y="3054846"/>
            <a:ext cx="298709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Human User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750" y="3321546"/>
            <a:ext cx="2844849" cy="167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Natural acoustic voice or text input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7874" y="2966888"/>
            <a:ext cx="190500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02528" y="3054846"/>
            <a:ext cx="298709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Speech AI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3649" y="3321546"/>
            <a:ext cx="2844849" cy="167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Acoustic &amp; neural language modeling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13774" y="2966888"/>
            <a:ext cx="1905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28427" y="3054846"/>
            <a:ext cx="298709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Digital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9549" y="3321546"/>
            <a:ext cx="2844849" cy="167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Database, assistant, or enterprise logic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4398317"/>
            <a:ext cx="142875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57950" y="4398317"/>
            <a:ext cx="238125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51037" y="2654796"/>
            <a:ext cx="238125" cy="2667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29312" y="2654796"/>
            <a:ext cx="333375" cy="2667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588549" y="2654796"/>
            <a:ext cx="266700" cy="2667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66787" y="476250"/>
            <a:ext cx="11186398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What is Speech AI?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23603"/>
            <a:ext cx="2497931" cy="144869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856" y="1923603"/>
            <a:ext cx="2497931" cy="144869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212" y="1923603"/>
            <a:ext cx="2497931" cy="144869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2568" y="2007096"/>
            <a:ext cx="2497931" cy="128155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00896"/>
            <a:ext cx="5972175" cy="19716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4175" y="3600896"/>
            <a:ext cx="4886325" cy="19716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5106" y="4362896"/>
            <a:ext cx="4410075" cy="3524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2300" y="5001071"/>
            <a:ext cx="4410075" cy="3333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47687"/>
            <a:ext cx="195262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07810" y="540543"/>
            <a:ext cx="1512689" cy="2809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9075" y="2571303"/>
            <a:ext cx="224278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Microphone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838003"/>
            <a:ext cx="2135981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Captures analog human speech vibrations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3731" y="2566987"/>
            <a:ext cx="12382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49431" y="2571303"/>
            <a:ext cx="224278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Audio Stream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831" y="2838003"/>
            <a:ext cx="2135981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Digitized acoustic signal (WAV/FLAC)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34087" y="2566987"/>
            <a:ext cx="12382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99787" y="2571303"/>
            <a:ext cx="224278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Watson STT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87" y="2838003"/>
            <a:ext cx="2135981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Deep neural acoustic &amp; language models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84443" y="2566987"/>
            <a:ext cx="12382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50144" y="2654796"/>
            <a:ext cx="224278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Recognized 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3543" y="2921496"/>
            <a:ext cx="2135981" cy="167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Structured JSON transcript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375" y="3839021"/>
            <a:ext cx="521017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Core STT Capabilities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8050" y="3839021"/>
            <a:ext cx="4124325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Working Example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0809" y="2171253"/>
            <a:ext cx="200025" cy="2667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387828" y="2171253"/>
            <a:ext cx="266700" cy="2667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52471" y="2254746"/>
            <a:ext cx="238125" cy="2667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9625" y="3862833"/>
            <a:ext cx="190500" cy="1905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9625" y="4172396"/>
            <a:ext cx="2690812" cy="2000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4F7FB"/>
                </a:solidFill>
                <a:latin typeface="Plus Jakarta Sans"/>
              </a:rPr>
              <a:t>Acoustic Customization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4737" y="4172396"/>
            <a:ext cx="2690812" cy="2000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4F7FB"/>
                </a:solidFill>
                <a:latin typeface="Plus Jakarta Sans"/>
              </a:rPr>
              <a:t>Real-Time Live Streaming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625" y="4486721"/>
            <a:ext cx="2690812" cy="2000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4F7FB"/>
                </a:solidFill>
                <a:latin typeface="Plus Jakarta Sans"/>
              </a:rPr>
              <a:t>Speaker Diarization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4737" y="4486721"/>
            <a:ext cx="2690812" cy="2000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4F7FB"/>
                </a:solidFill>
                <a:latin typeface="Plus Jakarta Sans"/>
              </a:rPr>
              <a:t>Smart Formatting &amp; Punctuation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72300" y="3862833"/>
            <a:ext cx="190500" cy="190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72300" y="4172396"/>
            <a:ext cx="4410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A2A9B0"/>
                </a:solidFill>
                <a:latin typeface="Plus Jakarta Sans"/>
              </a:rPr>
              <a:t>INPUT (Spoken Audio):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2300" y="4810571"/>
            <a:ext cx="4410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A2A9B0"/>
                </a:solidFill>
                <a:latin typeface="Plus Jakarta Sans"/>
              </a:rPr>
              <a:t>OUTPUT (JSON Transcript):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9625" y="4200971"/>
            <a:ext cx="133350" cy="1524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14737" y="4200971"/>
            <a:ext cx="133350" cy="1524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9625" y="4515296"/>
            <a:ext cx="133350" cy="1524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14737" y="4515296"/>
            <a:ext cx="133350" cy="1524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86600" y="4467671"/>
            <a:ext cx="133350" cy="152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00112" y="476250"/>
            <a:ext cx="11256406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Speech-to-Text: Voice to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33612"/>
            <a:ext cx="2662237" cy="942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087" y="2233612"/>
            <a:ext cx="2662237" cy="942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75" y="2233612"/>
            <a:ext cx="2662237" cy="942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8262" y="2233612"/>
            <a:ext cx="2662237" cy="9429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348037"/>
            <a:ext cx="7070377" cy="19145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3327" y="3348037"/>
            <a:ext cx="3807023" cy="19145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1452" y="4396978"/>
            <a:ext cx="3330773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47687"/>
            <a:ext cx="300037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78380" y="540543"/>
            <a:ext cx="1242119" cy="2809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3425" y="2443162"/>
            <a:ext cx="438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78A9FF"/>
                </a:solidFill>
                <a:latin typeface="Plus Jakarta Sans"/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2643187"/>
            <a:ext cx="245530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Record Audio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2862262"/>
            <a:ext cx="233838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1C7CD"/>
                </a:solidFill>
                <a:latin typeface="Plus Jakarta Sans"/>
              </a:rPr>
              <a:t>Obtain clean WAV/FLAC format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012" y="2443162"/>
            <a:ext cx="4572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78A9FF"/>
                </a:solidFill>
                <a:latin typeface="Plus Jakarta Sans"/>
              </a:rPr>
              <a:t>STEP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012" y="2643187"/>
            <a:ext cx="245530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Send REST/WS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012" y="2862262"/>
            <a:ext cx="233838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1C7CD"/>
                </a:solidFill>
                <a:latin typeface="Plus Jakarta Sans"/>
              </a:rPr>
              <a:t>POST request with header params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2443162"/>
            <a:ext cx="4572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78A9FF"/>
                </a:solidFill>
                <a:latin typeface="Plus Jakarta Sans"/>
              </a:rPr>
              <a:t>STEP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600" y="2643187"/>
            <a:ext cx="245530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Cloud 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2862262"/>
            <a:ext cx="233838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1C7CD"/>
                </a:solidFill>
                <a:latin typeface="Plus Jakarta Sans"/>
              </a:rPr>
              <a:t>IBM Watson acoustic decoding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0187" y="2443162"/>
            <a:ext cx="466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i="0" u="none">
                <a:solidFill>
                  <a:srgbClr val="42BE65"/>
                </a:solidFill>
                <a:latin typeface="Plus Jakarta Sans"/>
              </a:rPr>
              <a:t>STEP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0187" y="2643187"/>
            <a:ext cx="2455306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Receive 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0187" y="2862262"/>
            <a:ext cx="233838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1C7CD"/>
                </a:solidFill>
                <a:latin typeface="Plus Jakarta Sans"/>
              </a:rPr>
              <a:t>Transcripts with confidence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2375" y="3509962"/>
            <a:ext cx="3679477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 i="0" u="none">
                <a:solidFill>
                  <a:srgbClr val="C1C7CD"/>
                </a:solidFill>
                <a:latin typeface="JetBrains Mono"/>
              </a:rPr>
              <a:t> cURL — Recognize Speech Audio</a:t>
            </a:r>
            <a:r>
              <a:rPr sz="900" b="0" i="0" u="none">
                <a:solidFill>
                  <a:srgbClr val="878D96"/>
                </a:solidFill>
                <a:latin typeface="JetBrains Mono"/>
              </a:rPr>
              <a:t> </a:t>
            </a:r>
            <a:r>
              <a:rPr sz="900" b="0" i="0" u="none">
                <a:solidFill>
                  <a:srgbClr val="C1C7CD"/>
                </a:solidFill>
                <a:latin typeface="JetBrains Mono"/>
              </a:rPr>
              <a:t>STT v1 Endpoint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1525" y="3833812"/>
            <a:ext cx="667032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1525" y="3967162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EB6"/>
                </a:solidFill>
                <a:latin typeface="JetBrains Mono SemiBold"/>
              </a:rPr>
              <a:t>curl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66925" y="3967162"/>
            <a:ext cx="2000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B1FF"/>
                </a:solidFill>
                <a:latin typeface="JetBrains Mono"/>
              </a:rPr>
              <a:t>"apikey:YOUR_API_KEY"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" y="4195762"/>
            <a:ext cx="76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2BE65"/>
                </a:solidFill>
                <a:latin typeface="JetBrains Mono"/>
              </a:rPr>
              <a:t>--header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62125" y="4195762"/>
            <a:ext cx="2381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B1FF"/>
                </a:solidFill>
                <a:latin typeface="JetBrains Mono"/>
              </a:rPr>
              <a:t>"Content-Type: audio/wav"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" y="4424362"/>
            <a:ext cx="1238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2BE65"/>
                </a:solidFill>
                <a:latin typeface="JetBrains Mono"/>
              </a:rPr>
              <a:t>--data-binary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8375" y="4424362"/>
            <a:ext cx="2000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B1FF"/>
                </a:solidFill>
                <a:latin typeface="JetBrains Mono"/>
              </a:rPr>
              <a:t>"@meeting_sample.wav"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1525" y="4652962"/>
            <a:ext cx="37147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B1FF"/>
                </a:solidFill>
                <a:latin typeface="JetBrains Mono"/>
              </a:rPr>
              <a:t>"https://api.us-south.speech-to-text.watson.cloud.ibm.com/v1/recognize"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9102" y="3604021"/>
            <a:ext cx="3083123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Critical Rule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51452" y="3899296"/>
            <a:ext cx="3330773" cy="4214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0" i="0" u="none">
                <a:solidFill>
                  <a:srgbClr val="C1C7CD"/>
                </a:solidFill>
                <a:latin typeface="Plus Jakarta Sans"/>
              </a:rPr>
              <a:t>The </a:t>
            </a:r>
            <a:r>
              <a:rPr sz="1012" b="0" i="0" u="none">
                <a:solidFill>
                  <a:srgbClr val="78A9FF"/>
                </a:solidFill>
                <a:latin typeface="Plus Jakarta Sans SemiBold"/>
              </a:rPr>
              <a:t>Content-Type</a:t>
            </a:r>
            <a:r>
              <a:rPr sz="1012" b="0" i="0" u="none">
                <a:solidFill>
                  <a:srgbClr val="C1C7CD"/>
                </a:solidFill>
                <a:latin typeface="Plus Jakarta Sans"/>
              </a:rPr>
              <a:t> header must match the real audio encoding precisely: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51452" y="3627834"/>
            <a:ext cx="152400" cy="1524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1525" y="3538537"/>
            <a:ext cx="133350" cy="152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04887" y="476250"/>
            <a:ext cx="11146393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STT Implementation with Watson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30908"/>
            <a:ext cx="2497931" cy="128155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856" y="1947416"/>
            <a:ext cx="2497931" cy="144869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212" y="2030908"/>
            <a:ext cx="2497931" cy="128155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2568" y="2030908"/>
            <a:ext cx="2497931" cy="128155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24708"/>
            <a:ext cx="5429250" cy="1924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3624708"/>
            <a:ext cx="5429250" cy="1924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4386708"/>
            <a:ext cx="4953000" cy="3143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4986783"/>
            <a:ext cx="4953000" cy="323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547687"/>
            <a:ext cx="328612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07810" y="540543"/>
            <a:ext cx="1512689" cy="28098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9075" y="2678608"/>
            <a:ext cx="224278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Text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2945308"/>
            <a:ext cx="2135981" cy="167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Plain text string or SSML document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83731" y="2590800"/>
            <a:ext cx="12382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49431" y="2595116"/>
            <a:ext cx="224278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Phoneme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2831" y="2861816"/>
            <a:ext cx="2135981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Linguistic analysis &amp; phonetic parsing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34087" y="2590800"/>
            <a:ext cx="12382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99787" y="2678608"/>
            <a:ext cx="224278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Watson Neural TTS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3187" y="2945308"/>
            <a:ext cx="2135981" cy="167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Deep neural network voice synthesis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84443" y="2590800"/>
            <a:ext cx="12382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50144" y="2678608"/>
            <a:ext cx="224278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FFFFFF"/>
                </a:solidFill>
                <a:latin typeface="Plus Jakarta Sans"/>
              </a:rPr>
              <a:t>Audio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3543" y="2945308"/>
            <a:ext cx="2135981" cy="1671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Natural spoken voice stream (.WAV)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375" y="3862833"/>
            <a:ext cx="46672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Multilingual Neural Voices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4196208"/>
            <a:ext cx="4953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1C7CD"/>
                </a:solidFill>
                <a:latin typeface="Plus Jakarta Sans"/>
              </a:rPr>
              <a:t>Watson TTS incorporates high-precision neural vocoders that produce expressive, human-like inflection.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5125" y="3862833"/>
            <a:ext cx="466725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Working Example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68065" y="2278558"/>
            <a:ext cx="304800" cy="2667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04134" y="2195066"/>
            <a:ext cx="333375" cy="2667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87828" y="2278558"/>
            <a:ext cx="266700" cy="2667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71521" y="2278558"/>
            <a:ext cx="200025" cy="2667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9625" y="3886646"/>
            <a:ext cx="190500" cy="1905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9625" y="4748658"/>
            <a:ext cx="1485900" cy="2667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390775" y="4748658"/>
            <a:ext cx="1428750" cy="2667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14775" y="4748658"/>
            <a:ext cx="1371600" cy="2667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29375" y="3886646"/>
            <a:ext cx="190500" cy="190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429375" y="4196208"/>
            <a:ext cx="4953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A2A9B0"/>
                </a:solidFill>
                <a:latin typeface="Plus Jakarta Sans"/>
              </a:rPr>
              <a:t>INPUT (Text Payload):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9375" y="4796283"/>
            <a:ext cx="4953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A2A9B0"/>
                </a:solidFill>
                <a:latin typeface="Plus Jakarta Sans"/>
              </a:rPr>
              <a:t>OUTPUT (Synthesized Audio):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3200" y="5091558"/>
            <a:ext cx="152400" cy="12382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33462" y="476250"/>
            <a:ext cx="11116389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Text-to-Speech: Text to Voice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64631"/>
            <a:ext cx="11049000" cy="2143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40718"/>
            <a:ext cx="2133600" cy="6524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350" y="1940718"/>
            <a:ext cx="2133600" cy="6524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40718"/>
            <a:ext cx="2133600" cy="65246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050" y="1940718"/>
            <a:ext cx="2133600" cy="65246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6900" y="1940718"/>
            <a:ext cx="2133600" cy="65246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47687"/>
            <a:ext cx="328612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6440" y="540543"/>
            <a:ext cx="1764059" cy="2809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33875" y="2926556"/>
            <a:ext cx="70866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 i="0" u="none">
                <a:solidFill>
                  <a:srgbClr val="C1C7CD"/>
                </a:solidFill>
                <a:latin typeface="JetBrains Mono"/>
              </a:rPr>
              <a:t> cURL — Synthesize Text to Audio WAV</a:t>
            </a:r>
            <a:r>
              <a:rPr sz="900" b="0" i="0" u="none">
                <a:solidFill>
                  <a:srgbClr val="878D96"/>
                </a:solidFill>
                <a:latin typeface="JetBrains Mono"/>
              </a:rPr>
              <a:t> </a:t>
            </a:r>
            <a:r>
              <a:rPr sz="900" b="0" i="0" u="none">
                <a:solidFill>
                  <a:srgbClr val="C1C7CD"/>
                </a:solidFill>
                <a:latin typeface="JetBrains Mono"/>
              </a:rPr>
              <a:t>TTS v1 /synthesize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525" y="3250406"/>
            <a:ext cx="106489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1525" y="3383756"/>
            <a:ext cx="381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7EB6"/>
                </a:solidFill>
                <a:latin typeface="JetBrains Mono SemiBold"/>
              </a:rPr>
              <a:t>curl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6925" y="3383756"/>
            <a:ext cx="2000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B1FF"/>
                </a:solidFill>
                <a:latin typeface="JetBrains Mono"/>
              </a:rPr>
              <a:t>"apikey:YOUR_API_KEY"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612356"/>
            <a:ext cx="76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2BE65"/>
                </a:solidFill>
                <a:latin typeface="JetBrains Mono"/>
              </a:rPr>
              <a:t>--header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2125" y="3612356"/>
            <a:ext cx="3048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B1FF"/>
                </a:solidFill>
                <a:latin typeface="JetBrains Mono"/>
              </a:rPr>
              <a:t>"Content-Type: application/json"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840956"/>
            <a:ext cx="76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2BE65"/>
                </a:solidFill>
                <a:latin typeface="JetBrains Mono"/>
              </a:rPr>
              <a:t>--header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2125" y="3840956"/>
            <a:ext cx="1809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B1FF"/>
                </a:solidFill>
                <a:latin typeface="JetBrains Mono"/>
              </a:rPr>
              <a:t>"Accept: audio/wav"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4069556"/>
            <a:ext cx="571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2BE65"/>
                </a:solidFill>
                <a:latin typeface="JetBrains Mono"/>
              </a:rPr>
              <a:t>--data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1625" y="4069556"/>
            <a:ext cx="2286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B1FF"/>
                </a:solidFill>
                <a:latin typeface="JetBrains Mono"/>
              </a:rPr>
              <a:t>'{"text":"hello world"}'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4298156"/>
            <a:ext cx="762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2BE65"/>
                </a:solidFill>
                <a:latin typeface="JetBrains Mono"/>
              </a:rPr>
              <a:t>--output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4526756"/>
            <a:ext cx="94297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B1FF"/>
                </a:solidFill>
                <a:latin typeface="JetBrains Mono"/>
              </a:rPr>
              <a:t>"https://api.us-south.text-to-speech.watson.cloud.ibm.com/v1/synthesize?voice=en-US_MichaelV3Voice"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8250" y="2112168"/>
            <a:ext cx="8001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1" i="0" u="none">
                <a:solidFill>
                  <a:srgbClr val="78A9FF"/>
                </a:solidFill>
                <a:latin typeface="Plus Jakarta Sans"/>
              </a:rPr>
              <a:t>1. Provide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5" y="2312193"/>
            <a:ext cx="19240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A2A9B0"/>
                </a:solidFill>
                <a:latin typeface="Plus Jakarta Sans"/>
              </a:rPr>
              <a:t>JSON payload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1387" y="2112168"/>
            <a:ext cx="7715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1" i="0" u="none">
                <a:solidFill>
                  <a:srgbClr val="78A9FF"/>
                </a:solidFill>
                <a:latin typeface="Plus Jakarta Sans"/>
              </a:rPr>
              <a:t>2. HTTP 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5125" y="2312193"/>
            <a:ext cx="19240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A2A9B0"/>
                </a:solidFill>
                <a:latin typeface="Plus Jakarta Sans"/>
              </a:rPr>
              <a:t>Authorized API 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1187" y="2112168"/>
            <a:ext cx="8096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1" i="0" u="none">
                <a:solidFill>
                  <a:srgbClr val="78A9FF"/>
                </a:solidFill>
                <a:latin typeface="Plus Jakarta Sans"/>
              </a:rPr>
              <a:t>3. Select Voice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3975" y="2312193"/>
            <a:ext cx="19240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A2A9B0"/>
                </a:solidFill>
                <a:latin typeface="Plus Jakarta Sans"/>
              </a:rPr>
              <a:t>Query param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8125" y="2112168"/>
            <a:ext cx="9334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1" i="0" u="none">
                <a:solidFill>
                  <a:srgbClr val="78A9FF"/>
                </a:solidFill>
                <a:latin typeface="Plus Jakarta Sans"/>
              </a:rPr>
              <a:t>4. Receive Audio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2825" y="2312193"/>
            <a:ext cx="19240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A2A9B0"/>
                </a:solidFill>
                <a:latin typeface="Plus Jakarta Sans"/>
              </a:rPr>
              <a:t>Binary stream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2225" y="2112168"/>
            <a:ext cx="742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1" i="0" u="none">
                <a:solidFill>
                  <a:srgbClr val="42BE65"/>
                </a:solidFill>
                <a:latin typeface="Plus Jakarta Sans"/>
              </a:rPr>
              <a:t>5. Play / Save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1675" y="2312193"/>
            <a:ext cx="1924050" cy="15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237"/>
              </a:lnSpc>
            </a:pPr>
            <a:r>
              <a:rPr sz="825" b="0" i="0" u="none">
                <a:solidFill>
                  <a:srgbClr val="A2A9B0"/>
                </a:solidFill>
                <a:latin typeface="Plus Jakarta Sans"/>
              </a:rPr>
              <a:t>Store hello.wav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5164931"/>
            <a:ext cx="123825" cy="1238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14400" y="5145881"/>
            <a:ext cx="12096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Credential Security: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5550" y="5164931"/>
            <a:ext cx="152400" cy="12382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34150" y="5145881"/>
            <a:ext cx="895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SSML Support: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525" y="2955131"/>
            <a:ext cx="133350" cy="152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33462" y="476250"/>
            <a:ext cx="11116389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TTS Implementation with Watson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47687"/>
            <a:ext cx="261937" cy="266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3125" y="540543"/>
            <a:ext cx="1857375" cy="28098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1500" y="1943100"/>
            <a:ext cx="11049000" cy="3609975"/>
          </a:xfrm>
          <a:prstGeom prst="roundRect">
            <a:avLst>
              <a:gd name="adj" fmla="val 0"/>
            </a:avLst>
          </a:prstGeom>
          <a:solidFill>
            <a:srgbClr val="1221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054646"/>
              </p:ext>
            </p:extLst>
          </p:nvPr>
        </p:nvGraphicFramePr>
        <p:xfrm>
          <a:off x="571500" y="1943100"/>
          <a:ext cx="11029949" cy="3609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7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5710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A2A9B0"/>
                          </a:solidFill>
                          <a:latin typeface="Plus Jakarta Sans SemiBold"/>
                        </a:rPr>
                        <a:t>Architectural 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78A9FF"/>
                          </a:solidFill>
                          <a:latin typeface="Plus Jakarta Sans"/>
                        </a:rPr>
                        <a:t> Speech-to-Text (STT)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1E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11CAA0"/>
                          </a:solidFill>
                          <a:latin typeface="Plus Jakarta Sans"/>
                        </a:rPr>
                        <a:t> Text-to-Speech (TTS)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1E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71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A2A9B0"/>
                          </a:solidFill>
                          <a:latin typeface="Plus Jakarta Sans SemiBold"/>
                        </a:rPr>
                        <a:t>Primary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D1D5DB"/>
                          </a:solidFill>
                          <a:latin typeface="Plus Jakarta Sans"/>
                        </a:rPr>
                        <a:t>Voice</a:t>
                      </a:r>
                      <a:r>
                        <a:rPr lang="en-US" sz="1125" b="0" i="0" u="none" dirty="0">
                          <a:solidFill>
                            <a:srgbClr val="D1D5DB"/>
                          </a:solidFill>
                          <a:latin typeface="Plus Jakarta Sans"/>
                        </a:rPr>
                        <a:t>    </a:t>
                      </a:r>
                      <a:r>
                        <a:rPr sz="1125" b="0" i="0" u="none" dirty="0">
                          <a:solidFill>
                            <a:srgbClr val="D1D5DB"/>
                          </a:solidFill>
                          <a:latin typeface="Plus Jakarta Sans"/>
                        </a:rPr>
                        <a:t>  Written Text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D1D5DB"/>
                          </a:solidFill>
                          <a:latin typeface="Plus Jakarta Sans"/>
                        </a:rPr>
                        <a:t>Text</a:t>
                      </a:r>
                      <a:r>
                        <a:rPr lang="en-US" sz="1125" b="0" i="0" u="none" dirty="0">
                          <a:solidFill>
                            <a:srgbClr val="D1D5DB"/>
                          </a:solidFill>
                          <a:latin typeface="Plus Jakarta Sans"/>
                        </a:rPr>
                        <a:t>    </a:t>
                      </a:r>
                      <a:r>
                        <a:rPr sz="1125" b="0" i="0" u="none" dirty="0">
                          <a:solidFill>
                            <a:srgbClr val="D1D5DB"/>
                          </a:solidFill>
                          <a:latin typeface="Plus Jakarta Sans"/>
                        </a:rPr>
                        <a:t>  Synthetic Voice</a:t>
                      </a:r>
                    </a:p>
                  </a:txBody>
                  <a:tcPr marL="2952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71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A2A9B0"/>
                          </a:solidFill>
                          <a:latin typeface="Plus Jakarta Sans SemiBold"/>
                        </a:rPr>
                        <a:t>Input Modality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Acoustic Audio (audio/wav, flac, mp3)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Plain Text or Structured SSML string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71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A2A9B0"/>
                          </a:solidFill>
                          <a:latin typeface="Plus Jakarta Sans SemiBold"/>
                        </a:rPr>
                        <a:t>Output Modality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Structured JSON transcript &amp; timestamps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Audio Stream (audio/wav, mp3, ogg)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71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A2A9B0"/>
                          </a:solidFill>
                          <a:latin typeface="Plus Jakarta Sans SemiBold"/>
                        </a:rPr>
                        <a:t>Representative Example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Automated meeting transcription, voice query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Interactive voice assistant, automated reader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71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A2A9B0"/>
                          </a:solidFill>
                          <a:latin typeface="Plus Jakarta Sans SemiBold"/>
                        </a:rPr>
                        <a:t>Customization Support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Custom acoustic models &amp; specialized jargon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Custom pronunciations &amp; emotional tone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5715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A2A9B0"/>
                          </a:solidFill>
                          <a:latin typeface="Plus Jakarta Sans SemiBold"/>
                        </a:rPr>
                        <a:t>Common Use-Cases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1D5DB"/>
                          </a:solidFill>
                          <a:latin typeface="Plus Jakarta Sans"/>
                        </a:rPr>
                        <a:t>Live captions, call center analytics, dictation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D1D5DB"/>
                          </a:solidFill>
                          <a:latin typeface="Plus Jakarta Sans"/>
                        </a:rPr>
                        <a:t>Accessibility screen readers, GPS voice alerts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81025" y="2466975"/>
            <a:ext cx="2647057" cy="19050"/>
          </a:xfrm>
          <a:prstGeom prst="rect">
            <a:avLst/>
          </a:prstGeom>
          <a:solidFill>
            <a:srgbClr val="458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28082" y="2466975"/>
            <a:ext cx="4191297" cy="19050"/>
          </a:xfrm>
          <a:prstGeom prst="rect">
            <a:avLst/>
          </a:prstGeom>
          <a:solidFill>
            <a:srgbClr val="458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19379" y="2466975"/>
            <a:ext cx="4191595" cy="19050"/>
          </a:xfrm>
          <a:prstGeom prst="rect">
            <a:avLst/>
          </a:prstGeom>
          <a:solidFill>
            <a:srgbClr val="458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2971800"/>
            <a:ext cx="26470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28082" y="2971800"/>
            <a:ext cx="41912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19379" y="2971800"/>
            <a:ext cx="41915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3514725"/>
            <a:ext cx="26470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28082" y="3514725"/>
            <a:ext cx="41912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19379" y="3514725"/>
            <a:ext cx="41915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057650"/>
            <a:ext cx="26470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28082" y="4057650"/>
            <a:ext cx="41912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19379" y="4057650"/>
            <a:ext cx="41915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1025" y="4552950"/>
            <a:ext cx="26470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28082" y="4552950"/>
            <a:ext cx="41912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19379" y="4552950"/>
            <a:ext cx="41915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1025" y="5048250"/>
            <a:ext cx="264705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28082" y="5048250"/>
            <a:ext cx="4191297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19379" y="5048250"/>
            <a:ext cx="41915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9516" y="2156283"/>
            <a:ext cx="123825" cy="1619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028" y="2133600"/>
            <a:ext cx="200025" cy="1619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5115" y="2675836"/>
            <a:ext cx="104775" cy="1143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5273" y="2671762"/>
            <a:ext cx="104775" cy="1143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6787" y="476250"/>
            <a:ext cx="11186398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Speech-to-Text vs Text-to-Speech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3619"/>
            <a:ext cx="2647950" cy="148679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850" y="1813619"/>
            <a:ext cx="2647950" cy="148679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13619"/>
            <a:ext cx="2647950" cy="148679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550" y="1813619"/>
            <a:ext cx="2647950" cy="148679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452812"/>
            <a:ext cx="2647950" cy="148679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3452812"/>
            <a:ext cx="2647950" cy="148679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452812"/>
            <a:ext cx="2647950" cy="1486792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550" y="3452812"/>
            <a:ext cx="2647950" cy="148679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47687"/>
            <a:ext cx="233362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6395" y="540543"/>
            <a:ext cx="1644104" cy="280987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5320605"/>
            <a:ext cx="19050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33475" y="5311080"/>
            <a:ext cx="7067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FFFFFF"/>
                </a:solidFill>
                <a:latin typeface="Plus Jakarta Sans SemiBold"/>
              </a:rPr>
              <a:t>Speech AI makes digital systems more natural, universally accessible, and seamlessly interactive.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1994594"/>
            <a:ext cx="400050" cy="400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3425" y="2489894"/>
            <a:ext cx="244030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Voice Assistants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" y="2785169"/>
            <a:ext cx="2324100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Conversational agents in IVR &amp; customer support platforms.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3775" y="1994594"/>
            <a:ext cx="400050" cy="4000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33775" y="2489894"/>
            <a:ext cx="244030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Customer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3775" y="2785169"/>
            <a:ext cx="2324100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Analyzing call recordings &amp; generating dynamic voice agents.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4125" y="1994594"/>
            <a:ext cx="400050" cy="4000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34125" y="2489894"/>
            <a:ext cx="244030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Accessibility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4125" y="2785169"/>
            <a:ext cx="2324100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Screen-reading for visually impaired &amp; audio navigation.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4475" y="1994594"/>
            <a:ext cx="400050" cy="4000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34475" y="2489894"/>
            <a:ext cx="244030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Auto Transcription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475" y="2785169"/>
            <a:ext cx="2324100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Accurate automated meeting minutes &amp; conference notes.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3633787"/>
            <a:ext cx="400050" cy="4000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3425" y="4129087"/>
            <a:ext cx="244030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Live Captioning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425" y="4424362"/>
            <a:ext cx="2324100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Real-time subtitles for video broadcasts &amp; lectures.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3775" y="3633787"/>
            <a:ext cx="400050" cy="4000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533775" y="4129087"/>
            <a:ext cx="244030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E-Learning Tools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3775" y="4424362"/>
            <a:ext cx="2324100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Interactive educational software &amp; language trainers.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125" y="3633787"/>
            <a:ext cx="400050" cy="4000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334125" y="4129087"/>
            <a:ext cx="244030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Healthcare Dictation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4125" y="4424362"/>
            <a:ext cx="2324100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Hands-free clinical documentation &amp; medical transcripts.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4475" y="3633787"/>
            <a:ext cx="400050" cy="4000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134475" y="4129087"/>
            <a:ext cx="244030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Smart Devices / IoT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4475" y="4424362"/>
            <a:ext cx="2324100" cy="334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6"/>
              </a:lnSpc>
            </a:pPr>
            <a:r>
              <a:rPr sz="975" b="0" i="0" u="none">
                <a:solidFill>
                  <a:srgbClr val="A2A9B0"/>
                </a:solidFill>
                <a:latin typeface="Plus Jakarta Sans"/>
              </a:rPr>
              <a:t>Voice-driven interfaces for smart home and automotive.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3912" y="2108894"/>
            <a:ext cx="219075" cy="1714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8075" y="2108894"/>
            <a:ext cx="171450" cy="1714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425" y="2108894"/>
            <a:ext cx="171450" cy="1714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58300" y="2108894"/>
            <a:ext cx="152400" cy="1714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" y="3748087"/>
            <a:ext cx="190500" cy="1714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24262" y="3748087"/>
            <a:ext cx="219075" cy="1714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8425" y="3748087"/>
            <a:ext cx="171450" cy="1714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8775" y="3748087"/>
            <a:ext cx="171450" cy="1714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8212" y="476250"/>
            <a:ext cx="11216401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Real-World Applications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12418"/>
            <a:ext cx="11049000" cy="1152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31231"/>
            <a:ext cx="2662237" cy="16525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7087" y="2231231"/>
            <a:ext cx="2662237" cy="16525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2675" y="2231231"/>
            <a:ext cx="2662237" cy="16525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58262" y="2231231"/>
            <a:ext cx="2662237" cy="165258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4403" y="4679156"/>
            <a:ext cx="2095500" cy="19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0450" y="4679156"/>
            <a:ext cx="2095500" cy="19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547687"/>
            <a:ext cx="300037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38395" y="540543"/>
            <a:ext cx="882104" cy="28098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625" y="2831306"/>
            <a:ext cx="229528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Speech-to-Text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088481"/>
            <a:ext cx="218598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1C7CD"/>
                </a:solidFill>
                <a:latin typeface="Plus Jakarta Sans"/>
              </a:rPr>
              <a:t>Converts unconstrained human voice into usable text with high precision.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5212" y="2831306"/>
            <a:ext cx="229528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Text-to-Speech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5212" y="3088481"/>
            <a:ext cx="218598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1C7CD"/>
                </a:solidFill>
                <a:latin typeface="Plus Jakarta Sans"/>
              </a:rPr>
              <a:t>Generates natural, expressive audio streams tailored across dialects.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831306"/>
            <a:ext cx="229528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Cloud REST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88481"/>
            <a:ext cx="2185987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1C7CD"/>
                </a:solidFill>
                <a:latin typeface="Plus Jakarta Sans"/>
              </a:rPr>
              <a:t>Simple, standardized integration into web, mobile, and IoT systems.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6387" y="2831306"/>
            <a:ext cx="2295286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Unified Synergy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6387" y="3088481"/>
            <a:ext cx="2185987" cy="557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1C7CD"/>
                </a:solidFill>
                <a:latin typeface="Plus Jakarta Sans"/>
              </a:rPr>
              <a:t>Combined together, they form complete end-to-end voice interfaces.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625" y="2526506"/>
            <a:ext cx="161925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5212" y="2526506"/>
            <a:ext cx="26670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2526506"/>
            <a:ext cx="161925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77242" y="4312443"/>
            <a:ext cx="476250" cy="4762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217" y="4864893"/>
            <a:ext cx="8763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Human 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0653" y="4469606"/>
            <a:ext cx="1143000" cy="1714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78A9FF"/>
                </a:solidFill>
                <a:latin typeface="Plus Jakarta Sans SemiBold"/>
              </a:rPr>
              <a:t>STT: Spoken Audio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8266" y="4736306"/>
            <a:ext cx="1247775" cy="1714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11CAA0"/>
                </a:solidFill>
                <a:latin typeface="Plus Jakarta Sans SemiBold"/>
              </a:rPr>
              <a:t>TTS: Synthetic Audio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67052" y="4312443"/>
            <a:ext cx="476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90789" y="4864893"/>
            <a:ext cx="16287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IBM Watson Speech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2900" y="4469606"/>
            <a:ext cx="990600" cy="1714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78A9FF"/>
                </a:solidFill>
                <a:latin typeface="Plus Jakarta Sans SemiBold"/>
              </a:rPr>
              <a:t>Normalized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8613" y="4736306"/>
            <a:ext cx="1019175" cy="17145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11CAA0"/>
                </a:solidFill>
                <a:latin typeface="Plus Jakarta Sans SemiBold"/>
              </a:rPr>
              <a:t>Response String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47386" y="4312443"/>
            <a:ext cx="476250" cy="4762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456836" y="4864893"/>
            <a:ext cx="1657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Enterprise Application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24880" y="4445793"/>
            <a:ext cx="180975" cy="2095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88878" y="4498181"/>
            <a:ext cx="104775" cy="1143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798266" y="4764881"/>
            <a:ext cx="104775" cy="1143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00402" y="4445793"/>
            <a:ext cx="209550" cy="2095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78725" y="4498181"/>
            <a:ext cx="104775" cy="1143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478613" y="4764881"/>
            <a:ext cx="104775" cy="11430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52161" y="4445793"/>
            <a:ext cx="266700" cy="20955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04887" y="476250"/>
            <a:ext cx="11146393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FFFFF"/>
                </a:solidFill>
                <a:latin typeface="Plus Jakarta Sans"/>
              </a:rPr>
              <a:t>Key Takeaways &amp;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2349" y="2271337"/>
            <a:ext cx="666750" cy="666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65784" y="3211556"/>
            <a:ext cx="3460432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0" i="0" u="none" dirty="0">
                <a:solidFill>
                  <a:srgbClr val="FFFFFF"/>
                </a:solidFill>
                <a:latin typeface="Plus Jakarta Sans ExtraBold"/>
              </a:rPr>
              <a:t>Thank You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5224" y="2452312"/>
            <a:ext cx="381000" cy="30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741</Words>
  <Application>Microsoft Office PowerPoint</Application>
  <PresentationFormat>Widescreen</PresentationFormat>
  <Paragraphs>152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JetBrains Mono</vt:lpstr>
      <vt:lpstr>JetBrains Mono SemiBold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Moreshwar Sahu</cp:lastModifiedBy>
  <cp:revision>2</cp:revision>
  <dcterms:created xsi:type="dcterms:W3CDTF">2013-01-27T09:14:16Z</dcterms:created>
  <dcterms:modified xsi:type="dcterms:W3CDTF">2026-09-04T20:02:42Z</dcterms:modified>
  <cp:category/>
</cp:coreProperties>
</file>